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37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51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8091" y="3085765"/>
            <a:ext cx="8240108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990600"/>
            <a:ext cx="7989752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2495444"/>
            <a:ext cx="7989752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395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3630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889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52646" y="5141973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36573"/>
            <a:ext cx="798975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680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2" y="2228002"/>
            <a:ext cx="389952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2" y="2228003"/>
            <a:ext cx="390766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002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28003"/>
            <a:ext cx="359350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2" y="2926051"/>
            <a:ext cx="3899527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9308" y="2228003"/>
            <a:ext cx="3601635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926051"/>
            <a:ext cx="3907662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31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088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484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52646" y="5141973"/>
            <a:ext cx="8238707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52" y="5262296"/>
            <a:ext cx="353662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99" y="601200"/>
            <a:ext cx="82404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7" y="5262295"/>
            <a:ext cx="426532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8093" y="599725"/>
            <a:ext cx="8238706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6"/>
            <a:ext cx="7989752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16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066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0" y="599725"/>
            <a:ext cx="2057399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75725"/>
            <a:ext cx="1503123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2" y="675725"/>
            <a:ext cx="592220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5956136"/>
            <a:ext cx="94767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5922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116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28003"/>
            <a:ext cx="7989752" cy="3630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59327" y="59561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0"/>
            <a:ext cx="48705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0476" y="5956136"/>
            <a:ext cx="770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8091" y="441325"/>
            <a:ext cx="2719909" cy="1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976001" y="441325"/>
            <a:ext cx="2710800" cy="10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216601" y="441325"/>
            <a:ext cx="2710800" cy="10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2696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Bluestock Mutual Fund Analytics Capstone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 algn="just"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Problem statement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fund investors face difficulty comparing hundreds of schemes across categories and fund houses.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financial data is fragmented across multiple sources and often contains inconsistencies, missing values, and duplicate records.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evaluation focuses mainly on returns, while important risk metrics such as volatility, drawdown, and tail risk are often ignored.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Investors lack a unified analytics platform that combines ETL, database management, performance analysis, and interactive visualization.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analysis is time-consuming and may lead to inconsistent investment decisions.</a:t>
            </a:r>
          </a:p>
          <a:p>
            <a:pPr marL="0" indent="0" algn="just"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Project objective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 end-to-end mutual fund analytics pipeline using Python, SQLite, and Power BI.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data extraction, cleaning, validation, and storage through a structured ETL process.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key performance and risk metrics including CAGR, volatility, Sharpe ratio, drawdown,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CVaR.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interactive dashboard for fund comparison, category analysis, and risk assessment.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data-driven investment insights to support informed mutual fund selection.</a:t>
            </a:r>
          </a:p>
          <a:p>
            <a:pPr lvl="0" algn="just"/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datasets used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AMFI fund master – scheme name, AMFI code, fund house, and category information.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NAV data – daily Net Asset Value used for return and risk calculations.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AUM (Assets Under Management) – fund size and asset allocation trends.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SIP inflows – monthly systematic investment plan investments.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inflows – investor capital flow across mutual fund categories.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Folio counts – number of investor accounts in each scheme/category.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Scheme performance data – historical returns and category comparisons.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 indices (NIFTY 50 / NIFTY 100) – market benchmark for performance evaluation.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&amp; ETL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sources: AMFI fund master, NAV history, AUM, SIP inflows, category inflows, and benchmark indices.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ETL layer (Python): Extracts raw CSV files, cleans and validates data, and standardizes formats.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layer (SQLite): Stores structured mutual fund data for efficient querying and analysis.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layer: Calculates performance and risk metrics such as CAGR, volatility, Sharpe ratio, drawdown,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CVaR.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layer (Power BI): Displays interactive dashboards for performance comparison and risk analysis.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ETL pipeline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Extract: Import raw mutual fund datasets from multiple sources.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Transform: Standardize column names, convert date formats, validate AMFI codes, remove duplicates, and handle missing NAV values.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Load: Store cleaned datasets in SQLite tables (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fund_master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nav_history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0" algn="just"/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Generate financial metrics and category-level insights.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Visualize: Connect the database to Power BI for interactive reporting and decision support.</a:t>
            </a:r>
          </a:p>
          <a:p>
            <a:pPr marL="0" indent="0" algn="just">
              <a:buNone/>
            </a:pP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HIGHLIGHTS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distribution analysis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Equity mutual funds represented the largest share of schemes in the dataset.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Debt, hybrid, and thematic funds formed the remaining major categories.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Category-wise distribution highlighted the dominance of equity-oriented investments.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 distribution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NAV values showed a positively skewed distribution.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schemes had moderate NAV values, while a small number of mature funds had significantly higher NAVs.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indicated wide variation in fund age and accumulated returns.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assessment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were primarily observed in historical NAV records.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scheme entries were identified and removed during ETL.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formats and AMFI codes were standardized to ensure consistency.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HIGHLIGHTS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distribution analysis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returns were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centered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around zero, indicating normal short-term market fluctuations.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distributions showed fat tails, reflecting occasional extreme market movements.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few schemes experienced significantly higher positive and negative return observations.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Volatility comparison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Small-cap and thematic funds exhibited the highest return volatility.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Large-cap and diversified equity funds showed relatively lower volatility.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Debt funds demonstrated the most stable return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 concentration insights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limited number of large AUM funds accounted for a significant share of total assets.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 capital was concentrated in well-established fund houses and popular equity schemes.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concentration suggested varying levels of diversification across the industry.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lang="en-IN" dirty="0"/>
              <a:t> METRICS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CAGR (compound annual growth rate)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the annualized growth rate of a mutual fund over the investment period.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the average yearly return assuming profits are reinvested.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comparing long-term performance across different schemes.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CAGR indicates stronger long-term wealth creation.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Annualized volatility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the standard deviation of daily returns on an annual basis.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the level of return fluctuations experienced by a fund.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volatility implies greater investment risk.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compare the stability of different mutual fund categories.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Equity funds generally delivered higher CAGR than debt funds.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Small-cap and thematic funds showed the highest volatility.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Large-cap and diversified equity funds provided a better balance between return and stability.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CAGR alone is insufficient; it must be evaluated alongside volatility.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 reference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CAGR: (Ending NAV / Beginning NAV)^(1/n) - 1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Annualized volatility: Std(Daily Returns) × √252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Sharpe ratio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risk-adjusted return by comparing excess return to total risk.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as: (Portfolio Return − Risk-Free Rate) / Volatility.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higher Sharpe ratio indicates better returns for each unit of risk taken.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comparing funds with different volatility levels.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drawdown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the largest decline from a peak NAV to a subsequent trough.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the potential capital loss during adverse market conditions.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drawdown suggests better downside protection and capital preservation.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investors assess recovery risk and investment resilience.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high-return funds had moderate or low Sharpe ratios, indicating inefficient risk-taking.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Diversified equity funds generally exhibited smaller drawdowns than sectoral and thematic funds.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Funds with consistent returns often achieved superior risk-adjusted performance.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Sharpe ratio and drawdown provides a more balanced evaluation than CAGR alone.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 reference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Sharpe ratio: (Return − Risk-Free Rate) / Volatility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drawdown: (Peak NAV − Trough NAV) / Peak NAV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Tableau dashboard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to visualize mutual fund performance, risk metrics, and category-level trends.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to the cleaned SQLite database for dynamic and interactive analysis.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users to explore fund performance through filters, charts, and comparative dashboards.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investors, analysts, and portfolio researchers.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components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dashboard: CAGR, cumulative returns, and category-wise return comparison.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dashboard: Volatility, Sharpe ratio, maximum drawdown,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CVaR analysis.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 comparison dashboard: Compare multiple schemes based on return and risk metrics.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insights dashboard: Distribution of funds, AUM trends, and investor participation.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features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for fund category, fund house, scheme name, and date range.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Hover tooltips with detailed scheme-level information.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Drill-down analysis from category level to individual fund performance.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charts, heat maps, and KPI indicators for faster decision-making.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from the dashboard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High-return funds were not always the best risk-adjusted performers, as several schemes with strong CAGR had relatively low Sharpe ratios.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Large-cap and diversified equity funds showed more stable performance with lower volatility and smaller drawdowns.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Small-cap and thematic funds experienced higher return variability, indicating greater investment risk.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drawdown varied significantly across categories, highlighting differences in downside exposure.</a:t>
            </a:r>
          </a:p>
          <a:p>
            <a:pPr lvl="0" algn="just"/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CVaR analysis identified funds with higher tail risk, which may be more vulnerable during market downturns.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AUM concentration was observed in a limited number of large funds, indicating strong investor preference for established schemes.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filters enabled quick identification of top-performing funds by category, fund house, and risk profile.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returns did not always result in better investment quality, as several high-CAGR funds had relatively weak risk-adjusted performance.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Sharpe ratio proved to be a more reliable comparison metric than return alone.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Volatility and drawdown varied significantly across fund categories, especially in small-cap and thematic funds.</a:t>
            </a:r>
          </a:p>
          <a:p>
            <a:pPr lvl="0" algn="just"/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CVaR effectively highlighted downside and tail-risk exposure across schemes.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Diversified equity funds generally offered a better balance of return and risk.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ETL pipeline and database architecture provided accurate, consistent, and scalable analytical outputs.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mutual funds using risk-adjusted metrics such as Sharpe ratio in addition to CAGR.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Diversify investments across multiple categories to reduce concentration risk.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Regularly monitor drawdown and volatility to assess downside exposure.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ETL and periodic NAV refreshes for up-to-date portfolio analysis.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compare funds against relevant benchmark indices for performance evaluation.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platform with portfolio optimization and predictive analytics for advanced investment decision support.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Thank you for your attention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an end-to-end mutual fund analytics platform using Python, SQLite, and Tableau.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ETL, performance analysis, risk analytics, and dashboard visualization.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practical applications of data engineering, financial analytics, and business intelligence.</a:t>
            </a:r>
          </a:p>
          <a:p>
            <a:pPr lvl="0"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provides a scalable framework for investment analysis and portfolio decision support.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Contact</a:t>
            </a:r>
          </a:p>
          <a:p>
            <a:pPr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Rekala Vamshi Data Analyst | Python | SQL | Tableau | Power BI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18</TotalTime>
  <Words>1598</Words>
  <Application>Microsoft Office PowerPoint</Application>
  <PresentationFormat>On-screen Show (4:3)</PresentationFormat>
  <Paragraphs>149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Gill Sans MT</vt:lpstr>
      <vt:lpstr>Times New Roman</vt:lpstr>
      <vt:lpstr>Wingdings</vt:lpstr>
      <vt:lpstr>Wingdings 2</vt:lpstr>
      <vt:lpstr>Dividend</vt:lpstr>
      <vt:lpstr>Bluestock Mutual Fund Analytics Capstone</vt:lpstr>
      <vt:lpstr>PROBLEM STATEMENT &amp; OBJECTIVE</vt:lpstr>
      <vt:lpstr>DATA SOURCES</vt:lpstr>
      <vt:lpstr>SYSTEM ARCHITECTURE &amp; ETL PIPELINE</vt:lpstr>
      <vt:lpstr>EDA HIGHLIGHTS I</vt:lpstr>
      <vt:lpstr>EDA HIGHLIGHTS II</vt:lpstr>
      <vt:lpstr>PERFORMANCE METRICS I</vt:lpstr>
      <vt:lpstr>PERFORMANCE METRICS II</vt:lpstr>
      <vt:lpstr>DASHBOARD OVERVIEW</vt:lpstr>
      <vt:lpstr>DASHBOARD INSIGHTS</vt:lpstr>
      <vt:lpstr>KEY FINDINGS &amp; RECOMMENDATIONS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vamshi rekala</dc:creator>
  <cp:keywords/>
  <dc:description>generated using python-pptx</dc:description>
  <cp:lastModifiedBy>vamshi rekala</cp:lastModifiedBy>
  <cp:revision>2</cp:revision>
  <dcterms:created xsi:type="dcterms:W3CDTF">2013-01-27T09:14:16Z</dcterms:created>
  <dcterms:modified xsi:type="dcterms:W3CDTF">2026-08-13T16:13:35Z</dcterms:modified>
  <cp:category/>
</cp:coreProperties>
</file>